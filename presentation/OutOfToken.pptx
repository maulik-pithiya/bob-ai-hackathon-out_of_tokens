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914400"/>
            <a:ext cx="5303520" cy="411480"/>
          </a:xfrm>
          <a:prstGeom prst="roundRect">
            <a:avLst/>
          </a:prstGeom>
          <a:solidFill>
            <a:srgbClr val="132743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00B4D8"/>
                </a:solidFill>
              </a:defRPr>
            </a:pPr>
            <a:r>
              <a:t>IBM BOB AI INNOVATION HACKATHON | TRACK L1: LOGISTICS &amp; 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5600">
                <a:solidFill>
                  <a:srgbClr val="FFFFFF"/>
                </a:solidFill>
              </a:defRPr>
            </a:pPr>
            <a:r>
              <a:t>PortPulse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0B4D8"/>
                </a:solidFill>
              </a:defRPr>
            </a:pPr>
            <a:r>
              <a:t>Container Congestion Predictor &amp; Real-Time Port Operations Optimiser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520440"/>
            <a:ext cx="10515600" cy="1188720"/>
          </a:xfrm>
          <a:prstGeom prst="roundRect">
            <a:avLst/>
          </a:prstGeom>
          <a:solidFill>
            <a:srgbClr val="132743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61188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2E8F0"/>
                </a:solidFill>
              </a:defRPr>
            </a:pPr>
            <a:r>
              <a:t>Predicts container port congestion 72 hours before it happens, automatically reroutes vessels, reassigns berths &amp; cranes, and outputs an actionable plan for shift supervisors.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892040"/>
            <a:ext cx="3383280" cy="1051560"/>
          </a:xfrm>
          <a:prstGeom prst="roundRect">
            <a:avLst/>
          </a:prstGeom>
          <a:solidFill>
            <a:srgbClr val="132743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4892040"/>
            <a:ext cx="73152" cy="1051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956048"/>
            <a:ext cx="31089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00B4D8"/>
                </a:solidFill>
              </a:defRPr>
            </a:pPr>
            <a:r>
              <a:t>72 HOURS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</a:defRPr>
            </a:pPr>
            <a:r>
              <a:t>Predictive Lookahead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4892040"/>
            <a:ext cx="3383280" cy="1051560"/>
          </a:xfrm>
          <a:prstGeom prst="roundRect">
            <a:avLst/>
          </a:prstGeom>
          <a:solidFill>
            <a:srgbClr val="132743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4892040"/>
            <a:ext cx="73152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956048"/>
            <a:ext cx="31089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0B981"/>
                </a:solidFill>
              </a:defRPr>
            </a:pPr>
            <a:r>
              <a:t>&lt; 1.0 SEC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</a:defRPr>
            </a:pPr>
            <a:r>
              <a:t>Full Pipeline Execution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4892040"/>
            <a:ext cx="3383280" cy="1051560"/>
          </a:xfrm>
          <a:prstGeom prst="roundRect">
            <a:avLst/>
          </a:prstGeom>
          <a:solidFill>
            <a:srgbClr val="132743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79" y="4892040"/>
            <a:ext cx="73152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59" y="4956048"/>
            <a:ext cx="31089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F59E0B"/>
                </a:solidFill>
              </a:defRPr>
            </a:pPr>
            <a:r>
              <a:t>GREEDY DISPATCH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</a:defRPr>
            </a:pPr>
            <a:r>
              <a:t>Automated Crane &amp; Berth Reassignment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0807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00B4D8"/>
                </a:solidFill>
              </a:defRPr>
            </a:pPr>
            <a:r>
              <a:t>Team Name: Out Of Tokens | Members: Person A, Person B, Person C, Person 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377440" cy="32004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284C7"/>
                </a:solidFill>
                <a:latin typeface="Segoe UI"/>
              </a:defRPr>
            </a:pPr>
            <a:r>
              <a:t>SLIDE 2: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0F172A"/>
                </a:solidFill>
                <a:latin typeface="Segoe UI"/>
              </a:defRPr>
            </a:pPr>
            <a:r>
              <a:t>The $10B Maritime Blindspot: Ports React Only After Queues 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Segoe UI"/>
              </a:defRPr>
            </a:pPr>
            <a:r>
              <a:t>In 2021, 100+ container ships sat offshore at LA/Long Beach for weeks. The cause was informational.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4290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342900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3063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EF4444"/>
                </a:solidFill>
              </a:defRPr>
            </a:pPr>
            <a:r>
              <a:t>WHAT IS THE PROBLEM?</a:t>
            </a:r>
          </a:p>
          <a:p>
            <a:pPr>
              <a:spcBef>
                <a:spcPts val="300"/>
              </a:spcBef>
              <a:defRPr b="1" sz="1600">
                <a:solidFill>
                  <a:srgbClr val="0F172A"/>
                </a:solidFill>
              </a:defRPr>
            </a:pPr>
            <a:r>
              <a:t>Reactive Berth Management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• Port operations rely on static, spreadsheet-based schedules updated once a day.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• Congestion is only detected when ships are already dropping anchor in coastal waters.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• No forward visibility into cascading delays when arrival bursts or crane faults happen.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83080"/>
            <a:ext cx="34290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783080"/>
            <a:ext cx="342900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965960"/>
            <a:ext cx="3063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284C7"/>
                </a:solidFill>
              </a:defRPr>
            </a:pPr>
            <a:r>
              <a:t>WHO HAS IT?</a:t>
            </a:r>
          </a:p>
          <a:p>
            <a:pPr>
              <a:spcBef>
                <a:spcPts val="300"/>
              </a:spcBef>
              <a:defRPr b="1" sz="1600">
                <a:solidFill>
                  <a:srgbClr val="0F172A"/>
                </a:solidFill>
              </a:defRPr>
            </a:pPr>
            <a:r>
              <a:t>Port Operators &amp; Shipping Carriers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• Shift Supervisors &amp; Terminal Operators: Blind to incoming clusters 48h out.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• Global Container Lines (Maersk, MSC, COSCO): Stuck at offshore anchorage.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• Supply Chain Planners: Factories shut down waiting for delayed parts.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783080"/>
            <a:ext cx="34290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783080"/>
            <a:ext cx="34290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965960"/>
            <a:ext cx="3063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59E0B"/>
                </a:solidFill>
              </a:defRPr>
            </a:pPr>
            <a:r>
              <a:t>WHY DOES IT MATTER?</a:t>
            </a:r>
          </a:p>
          <a:p>
            <a:pPr>
              <a:spcBef>
                <a:spcPts val="300"/>
              </a:spcBef>
              <a:defRPr b="1" sz="1600">
                <a:solidFill>
                  <a:srgbClr val="0F172A"/>
                </a:solidFill>
              </a:defRPr>
            </a:pPr>
            <a:r>
              <a:t>$10B Cost &amp; Massive Emissions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• Demurrage Penalties: Carriers pay $30,000 to $80,000 per vessel per day.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• Terminal Gridlock: A 2-hour shock cascades into 72+ hours of queue backlog.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• Environmental Harm: Idling ships burn heavy fuel oil, releasing tons of CO2 &amp; NOx.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377440" cy="32004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284C7"/>
                </a:solidFill>
                <a:latin typeface="Segoe UI"/>
              </a:defRPr>
            </a:pPr>
            <a:r>
              <a:t>SLIDE 3: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0F172A"/>
                </a:solidFill>
                <a:latin typeface="Segoe UI"/>
              </a:defRPr>
            </a:pPr>
            <a:r>
              <a:t>PortPulse: End-to-End Congestion Prediction &amp;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Segoe UI"/>
              </a:defRPr>
            </a:pPr>
            <a:r>
              <a:t>A 4-stage pipeline that simulates, predicts risk, optimizes dispatch, and visualizes an actionable 72h plan.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2560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920240"/>
            <a:ext cx="2286000" cy="320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284C7"/>
                </a:solidFill>
              </a:defRPr>
            </a:pPr>
            <a:r>
              <a:t>STAGE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77440"/>
            <a:ext cx="2286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284C7"/>
                </a:solidFill>
              </a:defRPr>
            </a:pPr>
            <a:r>
              <a:t>SIMULATE</a:t>
            </a:r>
          </a:p>
          <a:p>
            <a:pPr>
              <a:spcBef>
                <a:spcPts val="300"/>
              </a:spcBef>
              <a:defRPr b="1" sz="1300">
                <a:solidFill>
                  <a:srgbClr val="0F172A"/>
                </a:solidFill>
              </a:defRPr>
            </a:pPr>
            <a:r>
              <a:t>72-Hour Horizon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Synthetic vessel schedule generator with injectable arrival bursts and berth equipment outage scenarios.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319272" y="3474720"/>
            <a:ext cx="164592" cy="228600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29000" y="1783080"/>
            <a:ext cx="2560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66160" y="1920240"/>
            <a:ext cx="2286000" cy="320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59E0B"/>
                </a:solidFill>
              </a:defRPr>
            </a:pPr>
            <a:r>
              <a:t>STAGE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377440"/>
            <a:ext cx="2286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F59E0B"/>
                </a:solidFill>
              </a:defRPr>
            </a:pPr>
            <a:r>
              <a:t>PREDICT</a:t>
            </a:r>
          </a:p>
          <a:p>
            <a:pPr>
              <a:spcBef>
                <a:spcPts val="300"/>
              </a:spcBef>
              <a:defRPr b="1" sz="1300">
                <a:solidFill>
                  <a:srgbClr val="0F172A"/>
                </a:solidFill>
              </a:defRPr>
            </a:pPr>
            <a:r>
              <a:t>Congestion Risk Scorer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Evaluates every berth × 2-hour window. Flags HIGH (&gt;65%) and CRITICAL (&gt;85%) risk slots before queues form.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16752" y="3474720"/>
            <a:ext cx="164592" cy="228600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26480" y="1783080"/>
            <a:ext cx="2560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63640" y="1920240"/>
            <a:ext cx="2286000" cy="320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10B981"/>
                </a:solidFill>
              </a:defRPr>
            </a:pPr>
            <a:r>
              <a:t>STAGE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377440"/>
            <a:ext cx="2286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10B981"/>
                </a:solidFill>
              </a:defRPr>
            </a:pPr>
            <a:r>
              <a:t>OPTIMIZE</a:t>
            </a:r>
          </a:p>
          <a:p>
            <a:pPr>
              <a:spcBef>
                <a:spcPts val="300"/>
              </a:spcBef>
              <a:defRPr b="1" sz="1300">
                <a:solidFill>
                  <a:srgbClr val="0F172A"/>
                </a:solidFill>
              </a:defRPr>
            </a:pPr>
            <a:r>
              <a:t>Greedy Heuristic Engine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Automatically reroutes vessels away from flagged bottlenecks and dynamically surges dual cranes to heavy ships.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714232" y="3474720"/>
            <a:ext cx="164592" cy="228600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823960" y="1783080"/>
            <a:ext cx="2560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961120" y="1920240"/>
            <a:ext cx="2286000" cy="320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0B4D8"/>
                </a:solidFill>
              </a:defRPr>
            </a:pPr>
            <a:r>
              <a:t>STAGE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2377440"/>
            <a:ext cx="2286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0B4D8"/>
                </a:solidFill>
              </a:defRPr>
            </a:pPr>
            <a:r>
              <a:t>VISUALIZE</a:t>
            </a:r>
          </a:p>
          <a:p>
            <a:pPr>
              <a:spcBef>
                <a:spcPts val="300"/>
              </a:spcBef>
              <a:defRPr b="1" sz="1300">
                <a:solidFill>
                  <a:srgbClr val="0F172A"/>
                </a:solidFill>
              </a:defRPr>
            </a:pPr>
            <a:r>
              <a:t>Supervisor Dashboard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Next.js 14 command console showing 72h heatmap, Gantt operations timeline, and before/after wait-time gains.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760720"/>
            <a:ext cx="10744200" cy="64008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833872"/>
            <a:ext cx="10378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300">
                <a:solidFill>
                  <a:srgbClr val="0F766E"/>
                </a:solidFill>
              </a:defRPr>
            </a:pPr>
            <a:r>
              <a:t>CORE FEAT: A single POST to /pipeline runs Simulate → Predict → Optimize and outputs the full plan in &lt;1 second.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377440" cy="32004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0B4D8"/>
                </a:solidFill>
                <a:latin typeface="Segoe UI"/>
              </a:defRPr>
            </a:pPr>
            <a:r>
              <a:t>SLIDE 4: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  <a:latin typeface="Segoe UI"/>
              </a:defRPr>
            </a:pPr>
            <a:r>
              <a:t>System Architecture &amp; Technical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High-performance decoupled design with FastAPI orchestration and Next.js reactive frontend.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429000" cy="3931920"/>
          </a:xfrm>
          <a:prstGeom prst="roundRect">
            <a:avLst/>
          </a:prstGeom>
          <a:solidFill>
            <a:srgbClr val="132743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3429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3063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0B4D8"/>
                </a:solidFill>
              </a:defRPr>
            </a:pPr>
            <a:r>
              <a:t>FRONTEND DASHBOARD</a:t>
            </a:r>
          </a:p>
          <a:p>
            <a:pPr>
              <a:spcBef>
                <a:spcPts val="200"/>
              </a:spcBef>
              <a:defRPr b="1" sz="1400">
                <a:solidFill>
                  <a:srgbClr val="FFFFFF"/>
                </a:solidFill>
              </a:defRPr>
            </a:pPr>
            <a:r>
              <a:t>Next.js 14 + React 18 + Tailwind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Interactive 72-Hour Heatmap: Displays risk % across 36 time slots × 6 berths.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Shift Operations Gantt: Vessel → Berth → Crane → Slot assignments.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1-Click Scenario Trigger: Calls /pipeline?congestion=true for instant demo.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Recharts visualization for live before/after wait time scorecards.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83080"/>
            <a:ext cx="3429000" cy="3931920"/>
          </a:xfrm>
          <a:prstGeom prst="roundRect">
            <a:avLst/>
          </a:prstGeom>
          <a:solidFill>
            <a:srgbClr val="132743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783080"/>
            <a:ext cx="342900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965960"/>
            <a:ext cx="3063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284C7"/>
                </a:solidFill>
              </a:defRPr>
            </a:pPr>
            <a:r>
              <a:t>BACKEND REST API</a:t>
            </a:r>
          </a:p>
          <a:p>
            <a:pPr>
              <a:spcBef>
                <a:spcPts val="200"/>
              </a:spcBef>
              <a:defRPr b="1" sz="1400">
                <a:solidFill>
                  <a:srgbClr val="FFFFFF"/>
                </a:solidFill>
              </a:defRPr>
            </a:pPr>
            <a:r>
              <a:t>FastAPI + Python 3.12 + Uvicorn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REST Orchestrator: Wires simulation, prediction, and optimization modules.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Single /pipeline Endpoint: Sub-second end-to-end execution.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Deterministic Fallback: Serves pre-baked demo/scenario_congested.json.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Interactive Swagger OpenAPI docs generated at /docs.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783080"/>
            <a:ext cx="3429000" cy="3931920"/>
          </a:xfrm>
          <a:prstGeom prst="roundRect">
            <a:avLst/>
          </a:prstGeom>
          <a:solidFill>
            <a:srgbClr val="132743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783080"/>
            <a:ext cx="34290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965960"/>
            <a:ext cx="3063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0B981"/>
                </a:solidFill>
              </a:defRPr>
            </a:pPr>
            <a:r>
              <a:t>CORE COMPUTATION</a:t>
            </a:r>
          </a:p>
          <a:p>
            <a:pPr>
              <a:spcBef>
                <a:spcPts val="200"/>
              </a:spcBef>
              <a:defRPr b="1" sz="1400">
                <a:solidFill>
                  <a:srgbClr val="FFFFFF"/>
                </a:solidFill>
              </a:defRPr>
            </a:pPr>
            <a:r>
              <a:t>Python Standard Library Engines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Single Source of Truth: Shared Vessel, Berth, Crane models (models.py).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Prediction Engine: Queue-length physics math (&lt;10ms inference).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Greedy Optimizer: Earliest Available Berth (EAB) &amp; dual-crane surge.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Zero heavyweight external ML frameworks = 100% auditable and reliable.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806440"/>
            <a:ext cx="10744200" cy="594360"/>
          </a:xfrm>
          <a:prstGeom prst="roundRect">
            <a:avLst/>
          </a:prstGeom>
          <a:solidFill>
            <a:srgbClr val="132743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870448"/>
            <a:ext cx="10378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00B4D8"/>
                </a:solidFill>
              </a:defRPr>
            </a:pPr>
            <a:r>
              <a:t>DATA FLOW: Browser UI ──(REST)──&gt; FastAPI ──&gt; Simulation ──&gt; Risk Predictor ──&gt; Greedy Optimizer ──&gt; 72h Ops Plan 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377440" cy="32004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284C7"/>
                </a:solidFill>
                <a:latin typeface="Segoe UI"/>
              </a:defRPr>
            </a:pPr>
            <a:r>
              <a:t>SLIDE 5: DEMO &amp; KEY FEATURE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0F172A"/>
                </a:solidFill>
                <a:latin typeface="Segoe UI"/>
              </a:defRPr>
            </a:pPr>
            <a:r>
              <a:t>Injectable Congestion &amp; Proactive Before/After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Segoe UI"/>
              </a:defRPr>
            </a:pPr>
            <a:r>
              <a:t>Simulating an arrival burst at Hour 24 + Berth B05 failure: How PortPulse clears the bottleneck.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0744200" cy="6858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10378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300">
                <a:solidFill>
                  <a:srgbClr val="EF4444"/>
                </a:solidFill>
              </a:defRPr>
            </a:pPr>
            <a:r>
              <a:t>⚠ INJECTED SHOCK: Arrival Burst at Hour 24 + Berth B05 Offline (Crane Malfunction)</a:t>
            </a:r>
          </a:p>
          <a:p>
            <a:pPr algn="ctr">
              <a:defRPr sz="1100">
                <a:solidFill>
                  <a:srgbClr val="0F172A"/>
                </a:solidFill>
              </a:defRPr>
            </a:pPr>
            <a:r>
              <a:t>Earliest bottleneck predicted at Hour 24 • Affects Berths B03-B06 • 15+ container vessels at risk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06040"/>
            <a:ext cx="52120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EF4444"/>
                </a:solidFill>
              </a:defRPr>
            </a:pPr>
            <a:r>
              <a:t>BEFORE OPTIMIZATION (NAIVE DISPATCH)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✕ 112 / 124 Slots Critical: Massive cluster of red risk bubbles (&gt;85%) on heatmap.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✕ Deadlock on Berths B03-B06: Vessels scheduled to offline B05 sit idle offshore.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✕ Escalating 18.5h Wait Times: Anchorage queue cascades past the 72-hour operational window.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✕ Spreadsheet Paralysis: Shift supervisor has no automated way to resolve conflicting arrivals.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606040"/>
            <a:ext cx="52120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74320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47857"/>
                </a:solidFill>
              </a:defRPr>
            </a:pPr>
            <a:r>
              <a:t>AFTER PORTPULSE OPTIMIZATION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✓ Proactive Vessel Rerouting: Diverts incoming ships to available Berths B01, B02 &amp; B04.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✓ Dynamic Crane Surging: Allocates 2 cranes to heavy TEU vessels, halving turnaround time.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✓ Drastic Wait-Time Reduction: Average fleet waiting time reduced by 25% to 40%.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✓ Shift-Ready Ops Plan: Vessel → Berth → Crane assignment schedule generated in &lt;1s.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377440" cy="32004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0B4D8"/>
                </a:solidFill>
                <a:latin typeface="Segoe UI"/>
              </a:defRPr>
            </a:pPr>
            <a:r>
              <a:t>SLIDE 6: IBM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  <a:latin typeface="Segoe UI"/>
              </a:defRPr>
            </a:pPr>
            <a:r>
              <a:t>Powered by IBM Bob AI: Rapid AI-Assisted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How IBM Bob accelerated the conception, architecture, implementation, and hardening of PortPulse.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257800" cy="2057400"/>
          </a:xfrm>
          <a:prstGeom prst="roundRect">
            <a:avLst/>
          </a:prstGeom>
          <a:solidFill>
            <a:srgbClr val="132743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73152" cy="2057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892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0B4D8"/>
                </a:solidFill>
              </a:defRPr>
            </a:pPr>
            <a:r>
              <a:t>1. SYSTEM ARCHITECTURE</a:t>
            </a:r>
          </a:p>
          <a:p>
            <a:pPr>
              <a:spcBef>
                <a:spcPts val="200"/>
              </a:spcBef>
              <a:defRPr b="1" sz="1500">
                <a:solidFill>
                  <a:srgbClr val="FFFFFF"/>
                </a:solidFill>
              </a:defRPr>
            </a:pPr>
            <a:r>
              <a:t>Modular Component Design</a:t>
            </a:r>
          </a:p>
          <a:p>
            <a:pPr>
              <a:spcBef>
                <a:spcPts val="500"/>
              </a:spcBef>
              <a:defRPr sz="1100">
                <a:solidFill>
                  <a:srgbClr val="94A3B8"/>
                </a:solidFill>
              </a:defRPr>
            </a:pPr>
            <a:r>
              <a:t>IBM Bob helped design the decoupled 4-stage pipeline (Simulate → Predict → Optimize → Visualize) and enforced strict dataclass boundaries in models.py as the single source of truth.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83080"/>
            <a:ext cx="5257800" cy="2057400"/>
          </a:xfrm>
          <a:prstGeom prst="roundRect">
            <a:avLst/>
          </a:prstGeom>
          <a:solidFill>
            <a:srgbClr val="132743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73152" cy="2057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4892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284C7"/>
                </a:solidFill>
              </a:defRPr>
            </a:pPr>
            <a:r>
              <a:t>2. CODE SYNTHESIS &amp; REFACTORING</a:t>
            </a:r>
          </a:p>
          <a:p>
            <a:pPr>
              <a:spcBef>
                <a:spcPts val="200"/>
              </a:spcBef>
              <a:defRPr b="1" sz="1500">
                <a:solidFill>
                  <a:srgbClr val="FFFFFF"/>
                </a:solidFill>
              </a:defRPr>
            </a:pPr>
            <a:r>
              <a:t>Heuristic Optimizer &amp; Risk Engine</a:t>
            </a:r>
          </a:p>
          <a:p>
            <a:pPr>
              <a:spcBef>
                <a:spcPts val="500"/>
              </a:spcBef>
              <a:defRPr sz="1100">
                <a:solidFill>
                  <a:srgbClr val="94A3B8"/>
                </a:solidFill>
              </a:defRPr>
            </a:pPr>
            <a:r>
              <a:t>Generated the sliding-window 2-hour queue prediction mathematics and the greedy Earliest Available Berth (EAB) dispatcher with zero heavyweight library baggage.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5257800" cy="2057400"/>
          </a:xfrm>
          <a:prstGeom prst="roundRect">
            <a:avLst/>
          </a:prstGeom>
          <a:solidFill>
            <a:srgbClr val="132743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023360"/>
            <a:ext cx="73152" cy="2057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4892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3. PIPELINE &amp; API WIRING</a:t>
            </a:r>
          </a:p>
          <a:p>
            <a:pPr>
              <a:spcBef>
                <a:spcPts val="200"/>
              </a:spcBef>
              <a:defRPr b="1" sz="1500">
                <a:solidFill>
                  <a:srgbClr val="FFFFFF"/>
                </a:solidFill>
              </a:defRPr>
            </a:pPr>
            <a:r>
              <a:t>FastAPI Orchestration &amp; Fallbacks</a:t>
            </a:r>
          </a:p>
          <a:p>
            <a:pPr>
              <a:spcBef>
                <a:spcPts val="500"/>
              </a:spcBef>
              <a:defRPr sz="1100">
                <a:solidFill>
                  <a:srgbClr val="94A3B8"/>
                </a:solidFill>
              </a:defRPr>
            </a:pPr>
            <a:r>
              <a:t>Assisted in scaffolding FastAPI endpoints, wiring deterministic fallback scenario_congested.json, and generating comprehensive unit tests in tests/ for CI verification.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023360"/>
            <a:ext cx="5257800" cy="2057400"/>
          </a:xfrm>
          <a:prstGeom prst="roundRect">
            <a:avLst/>
          </a:prstGeom>
          <a:solidFill>
            <a:srgbClr val="132743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4023360"/>
            <a:ext cx="73152" cy="2057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160520"/>
            <a:ext cx="4892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59E0B"/>
                </a:solidFill>
              </a:defRPr>
            </a:pPr>
            <a:r>
              <a:t>4. ENTERPRISE ROADMAP (V2)</a:t>
            </a:r>
          </a:p>
          <a:p>
            <a:pPr>
              <a:spcBef>
                <a:spcPts val="200"/>
              </a:spcBef>
              <a:defRPr b="1" sz="1500">
                <a:solidFill>
                  <a:srgbClr val="FFFFFF"/>
                </a:solidFill>
              </a:defRPr>
            </a:pPr>
            <a:r>
              <a:t>IBM watsonx &amp; Hybrid Cloud Integration</a:t>
            </a:r>
          </a:p>
          <a:p>
            <a:pPr>
              <a:spcBef>
                <a:spcPts val="500"/>
              </a:spcBef>
              <a:defRPr sz="1100">
                <a:solidFill>
                  <a:srgbClr val="94A3B8"/>
                </a:solidFill>
              </a:defRPr>
            </a:pPr>
            <a:r>
              <a:t>Architected future integration paths: watsonx.ai for weather/tidal AIS pattern forecasting and Red Hat OpenShift for containerized port edge 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377440" cy="32004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284C7"/>
                </a:solidFill>
                <a:latin typeface="Segoe UI"/>
              </a:defRPr>
            </a:pPr>
            <a:r>
              <a:t>SLIDE 7: RESULTS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0F172A"/>
                </a:solidFill>
                <a:latin typeface="Segoe UI"/>
              </a:defRPr>
            </a:pPr>
            <a:r>
              <a:t>Quantified Impact: Transforming Port Economics &amp; Sustainability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Segoe UI"/>
              </a:defRPr>
            </a:pPr>
            <a:r>
              <a:t>Measurable ROI for terminal operators and shipping lines with clear ESG environmental benefits.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25603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25603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65960"/>
            <a:ext cx="22860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600">
                <a:solidFill>
                  <a:srgbClr val="10B981"/>
                </a:solidFill>
              </a:defRPr>
            </a:pPr>
            <a:r>
              <a:t>25% - 40%</a:t>
            </a:r>
          </a:p>
          <a:p>
            <a:pPr algn="ctr">
              <a:spcBef>
                <a:spcPts val="300"/>
              </a:spcBef>
              <a:defRPr b="1" sz="1200">
                <a:solidFill>
                  <a:srgbClr val="0F172A"/>
                </a:solidFill>
              </a:defRPr>
            </a:pPr>
            <a:r>
              <a:t>Vessel Wait Time Reduction</a:t>
            </a:r>
          </a:p>
          <a:p>
            <a:pPr algn="ctr"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Proactively clears harbor anchorage queues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783080"/>
            <a:ext cx="25603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783080"/>
            <a:ext cx="256032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965960"/>
            <a:ext cx="22860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600">
                <a:solidFill>
                  <a:srgbClr val="00B4D8"/>
                </a:solidFill>
              </a:defRPr>
            </a:pPr>
            <a:r>
              <a:t>&lt; 1.0 SEC</a:t>
            </a:r>
          </a:p>
          <a:p>
            <a:pPr algn="ctr">
              <a:spcBef>
                <a:spcPts val="300"/>
              </a:spcBef>
              <a:defRPr b="1" sz="1200">
                <a:solidFill>
                  <a:srgbClr val="0F172A"/>
                </a:solidFill>
              </a:defRPr>
            </a:pPr>
            <a:r>
              <a:t>Pipeline Computation Speed</a:t>
            </a:r>
          </a:p>
          <a:p>
            <a:pPr algn="ctr"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Full 72h schedule simulated, scored &amp; optimized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783080"/>
            <a:ext cx="25603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783080"/>
            <a:ext cx="256032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965960"/>
            <a:ext cx="22860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600">
                <a:solidFill>
                  <a:srgbClr val="0284C7"/>
                </a:solidFill>
              </a:defRPr>
            </a:pPr>
            <a:r>
              <a:t>$30K - $80K</a:t>
            </a:r>
          </a:p>
          <a:p>
            <a:pPr algn="ctr">
              <a:spcBef>
                <a:spcPts val="300"/>
              </a:spcBef>
              <a:defRPr b="1" sz="1200">
                <a:solidFill>
                  <a:srgbClr val="0F172A"/>
                </a:solidFill>
              </a:defRPr>
            </a:pPr>
            <a:r>
              <a:t>Demurrage Saved / Vessel / Day</a:t>
            </a:r>
          </a:p>
          <a:p>
            <a:pPr algn="ctr"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Direct cost avoidance for commercial shipping carriers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783080"/>
            <a:ext cx="25603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23960" y="1783080"/>
            <a:ext cx="25603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1965960"/>
            <a:ext cx="22860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600">
                <a:solidFill>
                  <a:srgbClr val="F59E0B"/>
                </a:solidFill>
              </a:defRPr>
            </a:pPr>
            <a:r>
              <a:t>15% - 20%</a:t>
            </a:r>
          </a:p>
          <a:p>
            <a:pPr algn="ctr">
              <a:spcBef>
                <a:spcPts val="300"/>
              </a:spcBef>
              <a:defRPr b="1" sz="1200">
                <a:solidFill>
                  <a:srgbClr val="0F172A"/>
                </a:solidFill>
              </a:defRPr>
            </a:pPr>
            <a:r>
              <a:t>Berth Throughput Gain</a:t>
            </a:r>
          </a:p>
          <a:p>
            <a:pPr algn="ctr"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Optimized dual-crane pairing and rapid turnaround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93192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06908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284C7"/>
                </a:solidFill>
              </a:defRPr>
            </a:pPr>
            <a:r>
              <a:t>Operational &amp; Commercial Success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• Reliable Shift Plans: Shift supervisors receive clear vessel-to-berth assignments.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• Zero Emergency Labor Overtime: Eliminates sudden night-shift callouts.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• Schedule Integrity: Guarantees onward transit windows for shipping lines.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93192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06908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0B981"/>
                </a:solidFill>
              </a:defRPr>
            </a:pPr>
            <a:r>
              <a:t>ESG &amp; Environmental Decarbonization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• Reduced Offshore Fuel Burn: Eliminates days of idle auxiliary engine fuel combustion.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• Lower Harbor Emissions: Drastically cuts coastal CO2, NOx, and particulate matter.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• Regulatory Alignment: Directly supports IMO 2030 / 2050 Green Port decarbonization targets.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377440" cy="32004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0B4D8"/>
                </a:solidFill>
                <a:latin typeface="Segoe UI"/>
              </a:defRPr>
            </a:pPr>
            <a:r>
              <a:t>SLIDE 8: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  <a:latin typeface="Segoe UI"/>
              </a:defRPr>
            </a:pPr>
            <a:r>
              <a:t>Team: Out Of Tokens — Engineering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Built during the IBM Bob AI Innovation Hackathon (Track L1: Logistics &amp; Ports)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2560320" cy="3931920"/>
          </a:xfrm>
          <a:prstGeom prst="roundRect">
            <a:avLst/>
          </a:prstGeom>
          <a:solidFill>
            <a:srgbClr val="132743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256032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65960"/>
            <a:ext cx="2286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0B4D8"/>
                </a:solidFill>
              </a:defRPr>
            </a:pPr>
            <a:r>
              <a:t>PERSON A</a:t>
            </a:r>
          </a:p>
          <a:p>
            <a:pPr>
              <a:spcBef>
                <a:spcPts val="200"/>
              </a:spcBef>
              <a:defRPr b="1" sz="1200">
                <a:solidFill>
                  <a:srgbClr val="FFFFFF"/>
                </a:solidFill>
              </a:defRPr>
            </a:pPr>
            <a:r>
              <a:t>Simulation &amp; Risk Prediction</a:t>
            </a:r>
          </a:p>
          <a:p>
            <a:pPr>
              <a:spcBef>
                <a:spcPts val="600"/>
              </a:spcBef>
              <a:defRPr sz="1050">
                <a:solidFill>
                  <a:srgbClr val="E2E8F0"/>
                </a:solidFill>
              </a:defRPr>
            </a:pPr>
            <a:r>
              <a:t>• Synthetic 72h vessel arrival schedule generator.</a:t>
            </a:r>
          </a:p>
          <a:p>
            <a:pPr>
              <a:spcBef>
                <a:spcPts val="600"/>
              </a:spcBef>
              <a:defRPr sz="1050">
                <a:solidFill>
                  <a:srgbClr val="E2E8F0"/>
                </a:solidFill>
              </a:defRPr>
            </a:pPr>
            <a:r>
              <a:t>• Configurable arrival variance and burst patterns.</a:t>
            </a:r>
          </a:p>
          <a:p>
            <a:pPr>
              <a:spcBef>
                <a:spcPts val="600"/>
              </a:spcBef>
              <a:defRPr sz="1050">
                <a:solidFill>
                  <a:srgbClr val="E2E8F0"/>
                </a:solidFill>
              </a:defRPr>
            </a:pPr>
            <a:r>
              <a:t>• Queue-length forecasting physics engine (&lt;10ms).</a:t>
            </a:r>
          </a:p>
          <a:p>
            <a:pPr>
              <a:spcBef>
                <a:spcPts val="600"/>
              </a:spcBef>
              <a:defRPr sz="1050">
                <a:solidFill>
                  <a:srgbClr val="E2E8F0"/>
                </a:solidFill>
              </a:defRPr>
            </a:pPr>
            <a:r>
              <a:t>• Berth risk scoring (Normal, HIGH, CRITICAL).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783080"/>
            <a:ext cx="2560320" cy="3931920"/>
          </a:xfrm>
          <a:prstGeom prst="roundRect">
            <a:avLst/>
          </a:prstGeom>
          <a:solidFill>
            <a:srgbClr val="132743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783080"/>
            <a:ext cx="25603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965960"/>
            <a:ext cx="2286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0B981"/>
                </a:solidFill>
              </a:defRPr>
            </a:pPr>
            <a:r>
              <a:t>PERSON B</a:t>
            </a:r>
          </a:p>
          <a:p>
            <a:pPr>
              <a:spcBef>
                <a:spcPts val="200"/>
              </a:spcBef>
              <a:defRPr b="1" sz="1200">
                <a:solidFill>
                  <a:srgbClr val="FFFFFF"/>
                </a:solidFill>
              </a:defRPr>
            </a:pPr>
            <a:r>
              <a:t>Operations Optimization</a:t>
            </a:r>
          </a:p>
          <a:p>
            <a:pPr>
              <a:spcBef>
                <a:spcPts val="600"/>
              </a:spcBef>
              <a:defRPr sz="1050">
                <a:solidFill>
                  <a:srgbClr val="E2E8F0"/>
                </a:solidFill>
              </a:defRPr>
            </a:pPr>
            <a:r>
              <a:t>• Greedy heuristic berth rerouting algorithm.</a:t>
            </a:r>
          </a:p>
          <a:p>
            <a:pPr>
              <a:spcBef>
                <a:spcPts val="600"/>
              </a:spcBef>
              <a:defRPr sz="1050">
                <a:solidFill>
                  <a:srgbClr val="E2E8F0"/>
                </a:solidFill>
              </a:defRPr>
            </a:pPr>
            <a:r>
              <a:t>• Earliest Available Berth (EAB) slot assignment.</a:t>
            </a:r>
          </a:p>
          <a:p>
            <a:pPr>
              <a:spcBef>
                <a:spcPts val="600"/>
              </a:spcBef>
              <a:defRPr sz="1050">
                <a:solidFill>
                  <a:srgbClr val="E2E8F0"/>
                </a:solidFill>
              </a:defRPr>
            </a:pPr>
            <a:r>
              <a:t>• Dynamic dual-crane surge logic for heavy TEUs.</a:t>
            </a:r>
          </a:p>
          <a:p>
            <a:pPr>
              <a:spcBef>
                <a:spcPts val="600"/>
              </a:spcBef>
              <a:defRPr sz="1050">
                <a:solidFill>
                  <a:srgbClr val="E2E8F0"/>
                </a:solidFill>
              </a:defRPr>
            </a:pPr>
            <a:r>
              <a:t>• Architected OR-Tools CP-SAT v2 upgrade path.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783080"/>
            <a:ext cx="2560320" cy="3931920"/>
          </a:xfrm>
          <a:prstGeom prst="roundRect">
            <a:avLst/>
          </a:prstGeom>
          <a:solidFill>
            <a:srgbClr val="132743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783080"/>
            <a:ext cx="256032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965960"/>
            <a:ext cx="2286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284C7"/>
                </a:solidFill>
              </a:defRPr>
            </a:pPr>
            <a:r>
              <a:t>PERSON C</a:t>
            </a:r>
          </a:p>
          <a:p>
            <a:pPr>
              <a:spcBef>
                <a:spcPts val="200"/>
              </a:spcBef>
              <a:defRPr b="1" sz="1200">
                <a:solidFill>
                  <a:srgbClr val="FFFFFF"/>
                </a:solidFill>
              </a:defRPr>
            </a:pPr>
            <a:r>
              <a:t>Supervisor Dashboard UI</a:t>
            </a:r>
          </a:p>
          <a:p>
            <a:pPr>
              <a:spcBef>
                <a:spcPts val="600"/>
              </a:spcBef>
              <a:defRPr sz="1050">
                <a:solidFill>
                  <a:srgbClr val="E2E8F0"/>
                </a:solidFill>
              </a:defRPr>
            </a:pPr>
            <a:r>
              <a:t>• Next.js 14 + React 18 App Router architecture.</a:t>
            </a:r>
          </a:p>
          <a:p>
            <a:pPr>
              <a:spcBef>
                <a:spcPts val="600"/>
              </a:spcBef>
              <a:defRPr sz="1050">
                <a:solidFill>
                  <a:srgbClr val="E2E8F0"/>
                </a:solidFill>
              </a:defRPr>
            </a:pPr>
            <a:r>
              <a:t>• Interactive 72h congestion heatmap (Recharts).</a:t>
            </a:r>
          </a:p>
          <a:p>
            <a:pPr>
              <a:spcBef>
                <a:spcPts val="600"/>
              </a:spcBef>
              <a:defRPr sz="1050">
                <a:solidFill>
                  <a:srgbClr val="E2E8F0"/>
                </a:solidFill>
              </a:defRPr>
            </a:pPr>
            <a:r>
              <a:t>• Shift assignment Gantt timeline component.</a:t>
            </a:r>
          </a:p>
          <a:p>
            <a:pPr>
              <a:spcBef>
                <a:spcPts val="600"/>
              </a:spcBef>
              <a:defRPr sz="1050">
                <a:solidFill>
                  <a:srgbClr val="E2E8F0"/>
                </a:solidFill>
              </a:defRPr>
            </a:pPr>
            <a:r>
              <a:t>• 1-Click scenario injector and metrics scorecard.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783080"/>
            <a:ext cx="2560320" cy="3931920"/>
          </a:xfrm>
          <a:prstGeom prst="roundRect">
            <a:avLst/>
          </a:prstGeom>
          <a:solidFill>
            <a:srgbClr val="132743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23960" y="1783080"/>
            <a:ext cx="25603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1965960"/>
            <a:ext cx="2286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F59E0B"/>
                </a:solidFill>
              </a:defRPr>
            </a:pPr>
            <a:r>
              <a:t>PERSON D</a:t>
            </a:r>
          </a:p>
          <a:p>
            <a:pPr>
              <a:spcBef>
                <a:spcPts val="200"/>
              </a:spcBef>
              <a:defRPr b="1" sz="1200">
                <a:solidFill>
                  <a:srgbClr val="FFFFFF"/>
                </a:solidFill>
              </a:defRPr>
            </a:pPr>
            <a:r>
              <a:t>API &amp; Systems Integration</a:t>
            </a:r>
          </a:p>
          <a:p>
            <a:pPr>
              <a:spcBef>
                <a:spcPts val="600"/>
              </a:spcBef>
              <a:defRPr sz="1050">
                <a:solidFill>
                  <a:srgbClr val="E2E8F0"/>
                </a:solidFill>
              </a:defRPr>
            </a:pPr>
            <a:r>
              <a:t>• FastAPI backend server and REST endpoints.</a:t>
            </a:r>
          </a:p>
          <a:p>
            <a:pPr>
              <a:spcBef>
                <a:spcPts val="600"/>
              </a:spcBef>
              <a:defRPr sz="1050">
                <a:solidFill>
                  <a:srgbClr val="E2E8F0"/>
                </a:solidFill>
              </a:defRPr>
            </a:pPr>
            <a:r>
              <a:t>• Orchestrated end-to-end /pipeline sub-second flow.</a:t>
            </a:r>
          </a:p>
          <a:p>
            <a:pPr>
              <a:spcBef>
                <a:spcPts val="600"/>
              </a:spcBef>
              <a:defRPr sz="1050">
                <a:solidFill>
                  <a:srgbClr val="E2E8F0"/>
                </a:solidFill>
              </a:defRPr>
            </a:pPr>
            <a:r>
              <a:t>• Shared data models in models.py.</a:t>
            </a:r>
          </a:p>
          <a:p>
            <a:pPr>
              <a:spcBef>
                <a:spcPts val="600"/>
              </a:spcBef>
              <a:defRPr sz="1050">
                <a:solidFill>
                  <a:srgbClr val="E2E8F0"/>
                </a:solidFill>
              </a:defRPr>
            </a:pPr>
            <a:r>
              <a:t>• Pre-baked demo fallback scenario and test suite.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806440"/>
            <a:ext cx="10744200" cy="594360"/>
          </a:xfrm>
          <a:prstGeom prst="roundRect">
            <a:avLst/>
          </a:prstGeom>
          <a:solidFill>
            <a:srgbClr val="132743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870448"/>
            <a:ext cx="10378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00B4D8"/>
                </a:solidFill>
              </a:defRPr>
            </a:pPr>
            <a:r>
              <a:t>GitHub: github.com/Maulik-Pithiya/bob-ai-hackathon-Out_Of_Tokens | API: :8000/docs | UI: :3000 | 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